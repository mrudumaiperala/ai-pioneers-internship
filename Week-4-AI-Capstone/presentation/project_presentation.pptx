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182CE"/>
                </a:solidFill>
              </a:defRPr>
            </a:pPr>
            <a:r>
              <a:t>SLIDE 01 | AI CAPSTONE</a:t>
            </a:r>
          </a:p>
          <a:p>
            <a:pPr>
              <a:spcBef>
                <a:spcPts val="400"/>
              </a:spcBef>
              <a:defRPr sz="2600" b="1">
                <a:solidFill>
                  <a:srgbClr val="1A365D"/>
                </a:solidFill>
              </a:defRPr>
            </a:pPr>
            <a:r>
              <a:t>Customer Churn Prediction</a:t>
            </a:r>
          </a:p>
          <a:p>
            <a:pPr>
              <a:spcBef>
                <a:spcPts val="200"/>
              </a:spcBef>
              <a:defRPr sz="1400">
                <a:solidFill>
                  <a:srgbClr val="718096"/>
                </a:solidFill>
              </a:defRPr>
            </a:pPr>
            <a:r>
              <a:t>End-to-End Machine Learning Pipeline &amp; Deployment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365760" tIns="365760" rIns="365760" bIns="3657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AI Pioneers Internship — Week 4 AI Capstone Project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Presenter: Machine Learning Engineering Team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Domain: Telecom &amp; Subscription Business Retention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Tech Stack: Scikit-Learn | Pandas | Joblib | FastAPI |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182CE"/>
                </a:solidFill>
              </a:defRPr>
            </a:pPr>
            <a:r>
              <a:t>SLIDE 02 | AI CAPSTONE</a:t>
            </a:r>
          </a:p>
          <a:p>
            <a:pPr>
              <a:spcBef>
                <a:spcPts val="400"/>
              </a:spcBef>
              <a:defRPr sz="2600" b="1">
                <a:solidFill>
                  <a:srgbClr val="1A365D"/>
                </a:solidFill>
              </a:defRPr>
            </a:pPr>
            <a:r>
              <a:t>Problem Statement</a:t>
            </a:r>
          </a:p>
          <a:p>
            <a:pPr>
              <a:spcBef>
                <a:spcPts val="200"/>
              </a:spcBef>
              <a:defRPr sz="1400">
                <a:solidFill>
                  <a:srgbClr val="718096"/>
                </a:solidFill>
              </a:defRPr>
            </a:pPr>
            <a:r>
              <a:t>Why Churn Prediction Matters to Businesses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365760" tIns="365760" rIns="365760" bIns="3657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Customer attrition creates severe revenue loss and increases customer acquisition costs by 5x-7x.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Telecom companies struggle to identify early warning signals before customers cancel contracts.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Lack of automated, data-driven alert systems prevents timely retention campaigns.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Goal: Build a proactive prediction engine that flags high-risk accounts with actionable confidence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182CE"/>
                </a:solidFill>
              </a:defRPr>
            </a:pPr>
            <a:r>
              <a:t>SLIDE 03 | AI CAPSTONE</a:t>
            </a:r>
          </a:p>
          <a:p>
            <a:pPr>
              <a:spcBef>
                <a:spcPts val="400"/>
              </a:spcBef>
              <a:defRPr sz="2600" b="1">
                <a:solidFill>
                  <a:srgbClr val="1A365D"/>
                </a:solidFill>
              </a:defRPr>
            </a:pPr>
            <a:r>
              <a:t>Project Objectives</a:t>
            </a:r>
          </a:p>
          <a:p>
            <a:pPr>
              <a:spcBef>
                <a:spcPts val="200"/>
              </a:spcBef>
              <a:defRPr sz="1400">
                <a:solidFill>
                  <a:srgbClr val="718096"/>
                </a:solidFill>
              </a:defRPr>
            </a:pPr>
            <a:r>
              <a:t>Core Deliverables &amp; Technical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365760" tIns="365760" rIns="365760" bIns="3657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1. Develop a rigorous end-to-end Machine Learning pipeline from raw data to model selection.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2. Benchmark multiple supervised learning algorithms with cross-validation and hyperparameter tuning.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3. Encapsulate feature engineering into an atomic scikit-learn Pipeline to eliminate data leakage.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4. Serialize the trained model using Joblib for production readiness.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5. Build a high-performance REST API with FastAPI and interactive Swagger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182CE"/>
                </a:solidFill>
              </a:defRPr>
            </a:pPr>
            <a:r>
              <a:t>SLIDE 04 | AI CAPSTONE</a:t>
            </a:r>
          </a:p>
          <a:p>
            <a:pPr>
              <a:spcBef>
                <a:spcPts val="400"/>
              </a:spcBef>
              <a:defRPr sz="2600" b="1">
                <a:solidFill>
                  <a:srgbClr val="1A365D"/>
                </a:solidFill>
              </a:defRPr>
            </a:pPr>
            <a:r>
              <a:t>Dataset Architecture &amp; EDA</a:t>
            </a:r>
          </a:p>
          <a:p>
            <a:pPr>
              <a:spcBef>
                <a:spcPts val="200"/>
              </a:spcBef>
              <a:defRPr sz="1400">
                <a:solidFill>
                  <a:srgbClr val="718096"/>
                </a:solidFill>
              </a:defRPr>
            </a:pPr>
            <a:r>
              <a:t>Understanding Feature Demographics &amp; Behavioral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365760" tIns="365760" rIns="365760" bIns="3657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1,500 Customer Records with 20 Demographic, Service, and Account Attributes.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Target Variable: Churn (Binary: 'Yes' / 'No') with ~26% baseline churn prevalence.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Key Numerical Features: Tenure (months), MonthlyCharges ($), and TotalCharges ($).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Key Categorical Features: Contract Type, Internet Service (Fiber optic / DSL), Tech Support, Payment Method.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Key Insight: Month-to-month contracts and fiber optic users without tech support show highest attrition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182CE"/>
                </a:solidFill>
              </a:defRPr>
            </a:pPr>
            <a:r>
              <a:t>SLIDE 05 | AI CAPSTONE</a:t>
            </a:r>
          </a:p>
          <a:p>
            <a:pPr>
              <a:spcBef>
                <a:spcPts val="400"/>
              </a:spcBef>
              <a:defRPr sz="2600" b="1">
                <a:solidFill>
                  <a:srgbClr val="1A365D"/>
                </a:solidFill>
              </a:defRPr>
            </a:pPr>
            <a:r>
              <a:t>Data Preprocessing Pipeline</a:t>
            </a:r>
          </a:p>
          <a:p>
            <a:pPr>
              <a:spcBef>
                <a:spcPts val="200"/>
              </a:spcBef>
              <a:defRPr sz="1400">
                <a:solidFill>
                  <a:srgbClr val="718096"/>
                </a:solidFill>
              </a:defRPr>
            </a:pPr>
            <a:r>
              <a:t>ColumnTransformer &amp; Zero-Leakage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365760" tIns="365760" rIns="365760" bIns="3657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Numerical Pipeline: SimpleImputer (median strategy) + StandardScaler normalization.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Categorical Pipeline: SimpleImputer (most frequent) + OneHotEncoder (handle_unknown='ignore').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Encapsulation: Bundled into a unified Scikit-Learn ColumnTransformer.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Production Guarantee: Raw JSON dictionaries can be directly fed into the pipeline without manual one-hot encoding or scaling at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182CE"/>
                </a:solidFill>
              </a:defRPr>
            </a:pPr>
            <a:r>
              <a:t>SLIDE 06 | AI CAPSTONE</a:t>
            </a:r>
          </a:p>
          <a:p>
            <a:pPr>
              <a:spcBef>
                <a:spcPts val="400"/>
              </a:spcBef>
              <a:defRPr sz="2600" b="1">
                <a:solidFill>
                  <a:srgbClr val="1A365D"/>
                </a:solidFill>
              </a:defRPr>
            </a:pPr>
            <a:r>
              <a:t>Supervised Model Selection</a:t>
            </a:r>
          </a:p>
          <a:p>
            <a:pPr>
              <a:spcBef>
                <a:spcPts val="200"/>
              </a:spcBef>
              <a:defRPr sz="1400">
                <a:solidFill>
                  <a:srgbClr val="718096"/>
                </a:solidFill>
              </a:defRPr>
            </a:pPr>
            <a:r>
              <a:t>Comparing Classifiers Across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365760" tIns="365760" rIns="365760" bIns="3657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Evaluated 4 distinct model families on identical train/test splits (80/20 stratified):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• Logistic Regression — Strong linear baseline (Accuracy: ~78%, ROC-AUC: ~0.82)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• Decision Tree Classifier — Interpretable non-linear tree rules (Accuracy: ~76%)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• Random Forest Classifier — Robust bagging ensemble reducing variance (Accuracy: ~83%, ROC-AUC: ~0.86)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• Gradient Boosting Classifier — High precision sequential boosting (Accuracy: ~82%)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Random Forest chosen as best overall model with highest F1 and ROC-AUC stability.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182CE"/>
                </a:solidFill>
              </a:defRPr>
            </a:pPr>
            <a:r>
              <a:t>SLIDE 07 | AI CAPSTONE</a:t>
            </a:r>
          </a:p>
          <a:p>
            <a:pPr>
              <a:spcBef>
                <a:spcPts val="400"/>
              </a:spcBef>
              <a:defRPr sz="2600" b="1">
                <a:solidFill>
                  <a:srgbClr val="1A365D"/>
                </a:solidFill>
              </a:defRPr>
            </a:pPr>
            <a:r>
              <a:t>Model Training &amp; Evaluation</a:t>
            </a:r>
          </a:p>
          <a:p>
            <a:pPr>
              <a:spcBef>
                <a:spcPts val="200"/>
              </a:spcBef>
              <a:defRPr sz="1400">
                <a:solidFill>
                  <a:srgbClr val="718096"/>
                </a:solidFill>
              </a:defRPr>
            </a:pPr>
            <a:r>
              <a:t>Validation Results &amp; Hyperparameter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365760" tIns="365760" rIns="365760" bIns="3657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Applied 3-fold cross-validated GridSearchCV over n_estimators, max_depth, and min_samples_split.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Final Model Metrics on Holdout Test Set: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• Accuracy: 83.3% | Precision: 78.4% | Recall: 71.2% | F1-Score: 0.746 | ROC-AUC: 0.865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Confusion matrix confirms strong true negative recognition with controlled false alarm rates.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Feature importance highlights Contract type, Tenure, and MonthlyCharges as top drivers.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182CE"/>
                </a:solidFill>
              </a:defRPr>
            </a:pPr>
            <a:r>
              <a:t>SLIDE 08 | AI CAPSTONE</a:t>
            </a:r>
          </a:p>
          <a:p>
            <a:pPr>
              <a:spcBef>
                <a:spcPts val="400"/>
              </a:spcBef>
              <a:defRPr sz="2600" b="1">
                <a:solidFill>
                  <a:srgbClr val="1A365D"/>
                </a:solidFill>
              </a:defRPr>
            </a:pPr>
            <a:r>
              <a:t>Model Serialization &amp; Deployment</a:t>
            </a:r>
          </a:p>
          <a:p>
            <a:pPr>
              <a:spcBef>
                <a:spcPts val="200"/>
              </a:spcBef>
              <a:defRPr sz="1400">
                <a:solidFill>
                  <a:srgbClr val="718096"/>
                </a:solidFill>
              </a:defRPr>
            </a:pPr>
            <a:r>
              <a:t>Moving from Notebook Experimentation to REST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365760" tIns="365760" rIns="365760" bIns="3657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Serialized full pipeline via joblib.dump(final_model, 'model/model.pkl').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Storage footprint: Lightweight, portable artifact ready for microservice containerization.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FastAPI Framework: High-performance ASGI framework with Pydantic request validation.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Dual Endpoints: Single record prediction (/predict) and high-throughput batch scoring (/predict_batch).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Dynamic Risk Stratification: Maps output probabilities into 'Low', 'Moderate', and 'High Risk' tiers.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182CE"/>
                </a:solidFill>
              </a:defRPr>
            </a:pPr>
            <a:r>
              <a:t>SLIDE 09 | AI CAPSTONE</a:t>
            </a:r>
          </a:p>
          <a:p>
            <a:pPr>
              <a:spcBef>
                <a:spcPts val="400"/>
              </a:spcBef>
              <a:defRPr sz="2600" b="1">
                <a:solidFill>
                  <a:srgbClr val="1A365D"/>
                </a:solidFill>
              </a:defRPr>
            </a:pPr>
            <a:r>
              <a:t>API Architecture &amp; Live Demo</a:t>
            </a:r>
          </a:p>
          <a:p>
            <a:pPr>
              <a:spcBef>
                <a:spcPts val="200"/>
              </a:spcBef>
              <a:defRPr sz="1400">
                <a:solidFill>
                  <a:srgbClr val="718096"/>
                </a:solidFill>
              </a:defRPr>
            </a:pPr>
            <a:r>
              <a:t>Interactive Swagger UI &amp; Sample Request/Response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365760" tIns="365760" rIns="365760" bIns="3657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Endpoint: POST /predict (Port 8000 /docs)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Sample Request Payload: { tenure: 2, Contract: 'Month-to-month', MonthlyCharges: 85.5, TechSupport: 'No' ... }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Sample API Response: { prediction: 1, churn: 'Yes', churn_probability: 0.764, risk_level: 'High Risk' }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Health Checks: GET /health and GET / provide automated uptime monitoring.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Full interactive testing verified through browser Swagger interface and cURL.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182CE"/>
                </a:solidFill>
              </a:defRPr>
            </a:pPr>
            <a:r>
              <a:t>SLIDE 10 | AI CAPSTONE</a:t>
            </a:r>
          </a:p>
          <a:p>
            <a:pPr>
              <a:spcBef>
                <a:spcPts val="400"/>
              </a:spcBef>
              <a:defRPr sz="2600" b="1">
                <a:solidFill>
                  <a:srgbClr val="1A365D"/>
                </a:solidFill>
              </a:defRPr>
            </a:pPr>
            <a:r>
              <a:t>Conclusion &amp; Business Impact</a:t>
            </a:r>
          </a:p>
          <a:p>
            <a:pPr>
              <a:spcBef>
                <a:spcPts val="200"/>
              </a:spcBef>
              <a:defRPr sz="1400">
                <a:solidFill>
                  <a:srgbClr val="718096"/>
                </a:solidFill>
              </a:defRPr>
            </a:pPr>
            <a:r>
              <a:t>Summary of Accomplishments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 lIns="365760" tIns="365760" rIns="365760" bIns="3657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Complete end-to-end ML lifecycle demonstrated: Data -&gt; EDA -&gt; Preprocessing -&gt; Modeling -&gt; Serialization -&gt; API.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Automated risk scoring empowers retention teams to intervene weeks before customer cancellation.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Clean modular architecture adheres to professional industry best practices with zero training-serving skew.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2D3748"/>
                </a:solidFill>
              </a:defRPr>
            </a:pPr>
            <a:r>
              <a:t>•   Future Enhancements: Docker containerization, CI/CD automated retraining, and SHAP explainability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